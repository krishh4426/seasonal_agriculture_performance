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5900241" cy="861497"/>
          </a:xfrm>
        </p:spPr>
        <p:txBody>
          <a:bodyPr vert="horz" lIns="91440" tIns="45720" rIns="91440" bIns="45720" rtlCol="0" anchor="t">
            <a:normAutofit fontScale="85000" lnSpcReduction="10000"/>
          </a:bodyPr>
          <a:lstStyle/>
          <a:p>
            <a:pPr algn="r"/>
            <a:r>
              <a:rPr lang="en-US" b="0" dirty="0">
                <a:solidFill>
                  <a:schemeClr val="tx1"/>
                </a:solidFill>
              </a:rPr>
              <a:t>Krish Yadav</a:t>
            </a:r>
            <a:endParaRPr lang="en-IN" b="0" dirty="0">
              <a:solidFill>
                <a:schemeClr val="tx1"/>
              </a:solidFill>
            </a:endParaRPr>
          </a:p>
          <a:p>
            <a:pPr algn="r"/>
            <a:r>
              <a:rPr lang="en-US" b="0" dirty="0">
                <a:solidFill>
                  <a:schemeClr val="tx1"/>
                </a:solidFill>
              </a:rPr>
              <a:t>College Name- Shree L.R. Tiwari College of Engineering</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8279024" cy="743448"/>
          </a:xfrm>
        </p:spPr>
        <p:txBody>
          <a:bodyPr>
            <a:normAutofit fontScale="90000"/>
          </a:bodyPr>
          <a:lstStyle/>
          <a:p>
            <a:r>
              <a:rPr lang="en-GB" sz="3200" dirty="0"/>
              <a:t>Project Title –seasonal agriculture performance</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4342382" cy="646331"/>
          </a:xfrm>
          <a:prstGeom prst="rect">
            <a:avLst/>
          </a:prstGeom>
          <a:noFill/>
        </p:spPr>
        <p:txBody>
          <a:bodyPr wrap="square" rtlCol="0">
            <a:spAutoFit/>
          </a:bodyPr>
          <a:lstStyle/>
          <a:p>
            <a:r>
              <a:rPr lang="en-US" b="1" dirty="0"/>
              <a:t>AICTE STU ID : STU6a5e3cf32d8e71784560883</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865673" y="805213"/>
            <a:ext cx="6276109" cy="830997"/>
          </a:xfrm>
        </p:spPr>
        <p:txBody>
          <a:bodyPr>
            <a:noAutofit/>
          </a:bodyPr>
          <a:lstStyle/>
          <a:p>
            <a:r>
              <a:rPr lang="en-GB" sz="2000" dirty="0"/>
              <a:t>Project Description</a:t>
            </a:r>
            <a:br>
              <a:rPr lang="en-GB" sz="2000" dirty="0"/>
            </a:br>
            <a:br>
              <a:rPr lang="en-GB" sz="2000" dirty="0"/>
            </a:br>
            <a:br>
              <a:rPr lang="en-GB" sz="1200" dirty="0"/>
            </a:br>
            <a:endParaRPr lang="en-IN" sz="12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E25923A4-E5B4-22C2-5BE7-321A19D769A3}"/>
              </a:ext>
            </a:extLst>
          </p:cNvPr>
          <p:cNvSpPr txBox="1"/>
          <p:nvPr/>
        </p:nvSpPr>
        <p:spPr>
          <a:xfrm>
            <a:off x="865673" y="1316711"/>
            <a:ext cx="6316824" cy="341632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Seasonal Agriculture Performance Analysis</a:t>
            </a:r>
            <a:br>
              <a:rPr lang="en-IN" dirty="0">
                <a:latin typeface="Times New Roman" panose="02020603050405020304" pitchFamily="18" charset="0"/>
                <a:cs typeface="Times New Roman" panose="02020603050405020304" pitchFamily="18" charset="0"/>
              </a:rPr>
            </a:b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agricultural performance across different seasons.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Compares crop yield, production, resource usage, costs, revenue and profit.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Studies the impact of factors such as rainfall, temperature, soil conditions, fertilizer and water usage.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Compares performance across different crops and regions.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Uses data visualization to identify patterns, trends and seasonal differences.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Provides data-driven insights and recommendations to improve agricultural efficiency and profitability</a:t>
            </a:r>
            <a:r>
              <a:rPr lang="en-IN" dirty="0"/>
              <a:t>.</a:t>
            </a:r>
            <a:br>
              <a:rPr lang="en-IN" dirty="0"/>
            </a:b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Autofit/>
          </a:bodyPr>
          <a:lstStyle/>
          <a:p>
            <a:pPr marL="0" indent="0">
              <a:buNone/>
            </a:pPr>
            <a:r>
              <a:rPr lang="en-IN" sz="1600" dirty="0">
                <a:latin typeface="Times New Roman" panose="02020603050405020304" pitchFamily="18" charset="0"/>
                <a:cs typeface="Times New Roman" panose="02020603050405020304" pitchFamily="18" charset="0"/>
              </a:rPr>
              <a:t>The main users who can benefit from this analysis are:</a:t>
            </a:r>
          </a:p>
          <a:p>
            <a:pPr lvl="0"/>
            <a:r>
              <a:rPr lang="en-IN" sz="1600" b="1" dirty="0">
                <a:latin typeface="Times New Roman" panose="02020603050405020304" pitchFamily="18" charset="0"/>
                <a:cs typeface="Times New Roman" panose="02020603050405020304" pitchFamily="18" charset="0"/>
              </a:rPr>
              <a:t>Farmers</a:t>
            </a:r>
            <a:r>
              <a:rPr lang="en-IN" sz="1600" dirty="0">
                <a:latin typeface="Times New Roman" panose="02020603050405020304" pitchFamily="18" charset="0"/>
                <a:cs typeface="Times New Roman" panose="02020603050405020304" pitchFamily="18" charset="0"/>
              </a:rPr>
              <a:t> — to make better decisions about crops, resources and seasons. </a:t>
            </a:r>
          </a:p>
          <a:p>
            <a:pPr lvl="0"/>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Agricultural planners</a:t>
            </a:r>
            <a:r>
              <a:rPr lang="en-IN" sz="1600" dirty="0">
                <a:latin typeface="Times New Roman" panose="02020603050405020304" pitchFamily="18" charset="0"/>
                <a:cs typeface="Times New Roman" panose="02020603050405020304" pitchFamily="18" charset="0"/>
              </a:rPr>
              <a:t> — to understand seasonal production patterns. </a:t>
            </a:r>
          </a:p>
          <a:p>
            <a:pPr lvl="0"/>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Government &amp; Agriculture Departments</a:t>
            </a:r>
            <a:r>
              <a:rPr lang="en-IN" sz="1600" dirty="0">
                <a:latin typeface="Times New Roman" panose="02020603050405020304" pitchFamily="18" charset="0"/>
                <a:cs typeface="Times New Roman" panose="02020603050405020304" pitchFamily="18" charset="0"/>
              </a:rPr>
              <a:t> — for agricultural planning and policy decisions. </a:t>
            </a:r>
          </a:p>
          <a:p>
            <a:pPr lvl="0"/>
            <a:r>
              <a:rPr lang="en-IN" sz="1600" b="1" dirty="0">
                <a:latin typeface="Times New Roman" panose="02020603050405020304" pitchFamily="18" charset="0"/>
                <a:cs typeface="Times New Roman" panose="02020603050405020304" pitchFamily="18" charset="0"/>
              </a:rPr>
              <a:t>Irrigation/Water Management Authorities</a:t>
            </a:r>
            <a:r>
              <a:rPr lang="en-IN" sz="1600" dirty="0">
                <a:latin typeface="Times New Roman" panose="02020603050405020304" pitchFamily="18" charset="0"/>
                <a:cs typeface="Times New Roman" panose="02020603050405020304" pitchFamily="18" charset="0"/>
              </a:rPr>
              <a:t> — to </a:t>
            </a: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water usage and efficiency. </a:t>
            </a:r>
          </a:p>
          <a:p>
            <a:pPr lvl="0"/>
            <a:r>
              <a:rPr lang="en-IN" sz="1600" b="1" dirty="0">
                <a:latin typeface="Times New Roman" panose="02020603050405020304" pitchFamily="18" charset="0"/>
                <a:cs typeface="Times New Roman" panose="02020603050405020304" pitchFamily="18" charset="0"/>
              </a:rPr>
              <a:t>Agricultural Consultants</a:t>
            </a:r>
            <a:r>
              <a:rPr lang="en-IN" sz="1600" dirty="0">
                <a:latin typeface="Times New Roman" panose="02020603050405020304" pitchFamily="18" charset="0"/>
                <a:cs typeface="Times New Roman" panose="02020603050405020304" pitchFamily="18" charset="0"/>
              </a:rPr>
              <a:t> — to provide data-based recommendations to farmers. </a:t>
            </a:r>
          </a:p>
          <a:p>
            <a:pPr lvl="0"/>
            <a:r>
              <a:rPr lang="en-IN" sz="1600" b="1" dirty="0">
                <a:latin typeface="Times New Roman" panose="02020603050405020304" pitchFamily="18" charset="0"/>
                <a:cs typeface="Times New Roman" panose="02020603050405020304" pitchFamily="18" charset="0"/>
              </a:rPr>
              <a:t>Agribusiness Companies</a:t>
            </a:r>
            <a:r>
              <a:rPr lang="en-IN" sz="1600" dirty="0">
                <a:latin typeface="Times New Roman" panose="02020603050405020304" pitchFamily="18" charset="0"/>
                <a:cs typeface="Times New Roman" panose="02020603050405020304" pitchFamily="18" charset="0"/>
              </a:rPr>
              <a:t> — to understand crop production, costs and market performance. </a:t>
            </a:r>
          </a:p>
          <a:p>
            <a:pPr lvl="0"/>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Researchers &amp; Analysts</a:t>
            </a:r>
            <a:r>
              <a:rPr lang="en-IN" sz="1600" dirty="0">
                <a:latin typeface="Times New Roman" panose="02020603050405020304" pitchFamily="18" charset="0"/>
                <a:cs typeface="Times New Roman" panose="02020603050405020304" pitchFamily="18" charset="0"/>
              </a:rPr>
              <a:t> — for studying relationships between weather, resources and agricultural output.</a:t>
            </a:r>
          </a:p>
          <a:p>
            <a:pPr algn="just">
              <a:lnSpc>
                <a:spcPct val="150000"/>
              </a:lnSpc>
            </a:pPr>
            <a:endParaRPr lang="en-IN" sz="1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r>
              <a:rPr lang="en-IN" b="1" dirty="0">
                <a:latin typeface="Times New Roman" panose="02020603050405020304" pitchFamily="18" charset="0"/>
                <a:cs typeface="Times New Roman" panose="02020603050405020304" pitchFamily="18" charset="0"/>
              </a:rPr>
              <a:t>Technologies / Libraries</a:t>
            </a:r>
          </a:p>
          <a:p>
            <a:pPr lvl="0"/>
            <a:r>
              <a:rPr lang="en-IN" b="1" dirty="0">
                <a:latin typeface="Times New Roman" panose="02020603050405020304" pitchFamily="18" charset="0"/>
                <a:cs typeface="Times New Roman" panose="02020603050405020304" pitchFamily="18" charset="0"/>
              </a:rPr>
              <a:t>Python</a:t>
            </a:r>
            <a:r>
              <a:rPr lang="en-IN" dirty="0">
                <a:latin typeface="Times New Roman" panose="02020603050405020304" pitchFamily="18" charset="0"/>
                <a:cs typeface="Times New Roman" panose="02020603050405020304" pitchFamily="18" charset="0"/>
              </a:rPr>
              <a:t> — Main programming language </a:t>
            </a:r>
          </a:p>
          <a:p>
            <a:pPr lvl="0"/>
            <a:r>
              <a:rPr lang="en-IN" b="1" dirty="0">
                <a:latin typeface="Times New Roman" panose="02020603050405020304" pitchFamily="18" charset="0"/>
                <a:cs typeface="Times New Roman" panose="02020603050405020304" pitchFamily="18" charset="0"/>
              </a:rPr>
              <a:t>Pandas</a:t>
            </a:r>
            <a:r>
              <a:rPr lang="en-IN" dirty="0">
                <a:latin typeface="Times New Roman" panose="02020603050405020304" pitchFamily="18" charset="0"/>
                <a:cs typeface="Times New Roman" panose="02020603050405020304" pitchFamily="18" charset="0"/>
              </a:rPr>
              <a:t> — Data cleaning, manipulation and analysis </a:t>
            </a:r>
          </a:p>
          <a:p>
            <a:pPr lvl="0"/>
            <a:r>
              <a:rPr lang="en-IN" b="1" dirty="0">
                <a:latin typeface="Times New Roman" panose="02020603050405020304" pitchFamily="18" charset="0"/>
                <a:cs typeface="Times New Roman" panose="02020603050405020304" pitchFamily="18" charset="0"/>
              </a:rPr>
              <a:t>NumPy</a:t>
            </a:r>
            <a:r>
              <a:rPr lang="en-IN" dirty="0">
                <a:latin typeface="Times New Roman" panose="02020603050405020304" pitchFamily="18" charset="0"/>
                <a:cs typeface="Times New Roman" panose="02020603050405020304" pitchFamily="18" charset="0"/>
              </a:rPr>
              <a:t> — Numerical calculations and statistical computations </a:t>
            </a:r>
          </a:p>
          <a:p>
            <a:pPr lvl="0"/>
            <a:r>
              <a:rPr lang="en-IN" b="1" dirty="0">
                <a:latin typeface="Times New Roman" panose="02020603050405020304" pitchFamily="18" charset="0"/>
                <a:cs typeface="Times New Roman" panose="02020603050405020304" pitchFamily="18" charset="0"/>
              </a:rPr>
              <a:t>Matplotlib</a:t>
            </a:r>
            <a:r>
              <a:rPr lang="en-IN" dirty="0">
                <a:latin typeface="Times New Roman" panose="02020603050405020304" pitchFamily="18" charset="0"/>
                <a:cs typeface="Times New Roman" panose="02020603050405020304" pitchFamily="18" charset="0"/>
              </a:rPr>
              <a:t> — Data visualization and charts </a:t>
            </a:r>
          </a:p>
          <a:p>
            <a:pPr lvl="0"/>
            <a:r>
              <a:rPr lang="en-IN" b="1" dirty="0">
                <a:latin typeface="Times New Roman" panose="02020603050405020304" pitchFamily="18" charset="0"/>
                <a:cs typeface="Times New Roman" panose="02020603050405020304" pitchFamily="18" charset="0"/>
              </a:rPr>
              <a:t>Seaborn</a:t>
            </a:r>
            <a:r>
              <a:rPr lang="en-IN" dirty="0">
                <a:latin typeface="Times New Roman" panose="02020603050405020304" pitchFamily="18" charset="0"/>
                <a:cs typeface="Times New Roman" panose="02020603050405020304" pitchFamily="18" charset="0"/>
              </a:rPr>
              <a:t> — Statistical visualization and advanced charts </a:t>
            </a:r>
          </a:p>
          <a:p>
            <a:pPr lvl="0"/>
            <a:r>
              <a:rPr lang="en-IN" b="1" dirty="0">
                <a:latin typeface="Times New Roman" panose="02020603050405020304" pitchFamily="18" charset="0"/>
                <a:cs typeface="Times New Roman" panose="02020603050405020304" pitchFamily="18" charset="0"/>
              </a:rPr>
              <a:t>Google </a:t>
            </a:r>
            <a:r>
              <a:rPr lang="en-IN" b="1" dirty="0" err="1">
                <a:latin typeface="Times New Roman" panose="02020603050405020304" pitchFamily="18" charset="0"/>
                <a:cs typeface="Times New Roman" panose="02020603050405020304" pitchFamily="18" charset="0"/>
              </a:rPr>
              <a:t>Colab</a:t>
            </a:r>
            <a:r>
              <a:rPr lang="en-IN" b="1" dirty="0">
                <a:latin typeface="Times New Roman" panose="02020603050405020304" pitchFamily="18" charset="0"/>
                <a:cs typeface="Times New Roman" panose="02020603050405020304" pitchFamily="18" charset="0"/>
              </a:rPr>
              <a:t> / Jupyter Notebook</a:t>
            </a:r>
            <a:r>
              <a:rPr lang="en-IN" dirty="0">
                <a:latin typeface="Times New Roman" panose="02020603050405020304" pitchFamily="18" charset="0"/>
                <a:cs typeface="Times New Roman" panose="02020603050405020304" pitchFamily="18" charset="0"/>
              </a:rPr>
              <a:t> — Development environment </a:t>
            </a:r>
          </a:p>
          <a:p>
            <a:pPr lvl="0"/>
            <a:r>
              <a:rPr lang="en-IN" b="1" dirty="0">
                <a:latin typeface="Times New Roman" panose="02020603050405020304" pitchFamily="18" charset="0"/>
                <a:cs typeface="Times New Roman" panose="02020603050405020304" pitchFamily="18" charset="0"/>
              </a:rPr>
              <a:t>CSV Dataset</a:t>
            </a:r>
            <a:r>
              <a:rPr lang="en-IN" dirty="0">
                <a:latin typeface="Times New Roman" panose="02020603050405020304" pitchFamily="18" charset="0"/>
                <a:cs typeface="Times New Roman" panose="02020603050405020304" pitchFamily="18" charset="0"/>
              </a:rPr>
              <a:t> — Source of agricultural data</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3BB23C8-9354-EADE-4227-BE9050416006}"/>
              </a:ext>
            </a:extLst>
          </p:cNvPr>
          <p:cNvPicPr>
            <a:picLocks noChangeAspect="1"/>
          </p:cNvPicPr>
          <p:nvPr/>
        </p:nvPicPr>
        <p:blipFill>
          <a:blip r:embed="rId3"/>
          <a:stretch>
            <a:fillRect/>
          </a:stretch>
        </p:blipFill>
        <p:spPr>
          <a:xfrm>
            <a:off x="1007706" y="1632856"/>
            <a:ext cx="7631725" cy="434806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1E6A7F61-824D-97AA-20CD-DFD1C3BC9BCC}"/>
              </a:ext>
            </a:extLst>
          </p:cNvPr>
          <p:cNvPicPr>
            <a:picLocks noChangeAspect="1"/>
          </p:cNvPicPr>
          <p:nvPr/>
        </p:nvPicPr>
        <p:blipFill>
          <a:blip r:embed="rId3"/>
          <a:stretch>
            <a:fillRect/>
          </a:stretch>
        </p:blipFill>
        <p:spPr>
          <a:xfrm>
            <a:off x="320982" y="1431693"/>
            <a:ext cx="7343192" cy="477738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8C5D794A-2C64-4E07-2246-2DCB8A68315D}"/>
              </a:ext>
            </a:extLst>
          </p:cNvPr>
          <p:cNvPicPr>
            <a:picLocks noChangeAspect="1"/>
          </p:cNvPicPr>
          <p:nvPr/>
        </p:nvPicPr>
        <p:blipFill>
          <a:blip r:embed="rId3"/>
          <a:stretch>
            <a:fillRect/>
          </a:stretch>
        </p:blipFill>
        <p:spPr>
          <a:xfrm>
            <a:off x="447869" y="1275371"/>
            <a:ext cx="8175404" cy="4456686"/>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EB053C20-72E6-AF3C-B763-CB55C357E7AC}"/>
              </a:ext>
            </a:extLst>
          </p:cNvPr>
          <p:cNvPicPr>
            <a:picLocks noChangeAspect="1"/>
          </p:cNvPicPr>
          <p:nvPr/>
        </p:nvPicPr>
        <p:blipFill>
          <a:blip r:embed="rId3"/>
          <a:stretch>
            <a:fillRect/>
          </a:stretch>
        </p:blipFill>
        <p:spPr>
          <a:xfrm>
            <a:off x="242595" y="1275371"/>
            <a:ext cx="7903029" cy="467163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32038A5-1427-6B7F-FD26-E3555224FB16}"/>
              </a:ext>
            </a:extLst>
          </p:cNvPr>
          <p:cNvPicPr>
            <a:picLocks noChangeAspect="1"/>
          </p:cNvPicPr>
          <p:nvPr/>
        </p:nvPicPr>
        <p:blipFill>
          <a:blip r:embed="rId3"/>
          <a:stretch>
            <a:fillRect/>
          </a:stretch>
        </p:blipFill>
        <p:spPr>
          <a:xfrm>
            <a:off x="307190" y="1431693"/>
            <a:ext cx="8220269" cy="402854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4BCAC3DB-282D-0CAE-97E0-AB59E6D1ABC9}"/>
              </a:ext>
            </a:extLst>
          </p:cNvPr>
          <p:cNvSpPr txBox="1"/>
          <p:nvPr/>
        </p:nvSpPr>
        <p:spPr>
          <a:xfrm>
            <a:off x="590122" y="1275371"/>
            <a:ext cx="7511143" cy="5632311"/>
          </a:xfrm>
          <a:prstGeom prst="rect">
            <a:avLst/>
          </a:prstGeom>
          <a:noFill/>
        </p:spPr>
        <p:txBody>
          <a:bodyPr wrap="square" rtlCol="0">
            <a:spAutoFit/>
          </a:bodyPr>
          <a:lstStyle/>
          <a:p>
            <a:pPr marL="285750" lvl="0" indent="-285750">
              <a:buFont typeface="Arial" panose="020B0604020202020204" pitchFamily="34" charset="0"/>
              <a:buChar char="•"/>
            </a:pPr>
            <a:r>
              <a:rPr lang="en-IN" b="1" dirty="0"/>
              <a:t>Real-time weather data integration</a:t>
            </a:r>
            <a:r>
              <a:rPr lang="en-IN" dirty="0"/>
              <a:t> to provide updated agricultural insights. </a:t>
            </a:r>
          </a:p>
          <a:p>
            <a:pPr marL="285750" lvl="0" indent="-285750">
              <a:buFont typeface="Arial" panose="020B0604020202020204" pitchFamily="34" charset="0"/>
              <a:buChar char="•"/>
            </a:pPr>
            <a:r>
              <a:rPr lang="en-IN" b="1" dirty="0"/>
              <a:t>Machine Learning models</a:t>
            </a:r>
            <a:r>
              <a:rPr lang="en-IN" dirty="0"/>
              <a:t> to predict crop yield for upcoming seasons. </a:t>
            </a:r>
          </a:p>
          <a:p>
            <a:pPr marL="285750" lvl="0" indent="-285750">
              <a:buFont typeface="Arial" panose="020B0604020202020204" pitchFamily="34" charset="0"/>
              <a:buChar char="•"/>
            </a:pPr>
            <a:r>
              <a:rPr lang="en-IN" b="1" dirty="0"/>
              <a:t>Crop recommendation system</a:t>
            </a:r>
            <a:r>
              <a:rPr lang="en-IN" dirty="0"/>
              <a:t> based on soil, weather and seasonal conditions. </a:t>
            </a:r>
          </a:p>
          <a:p>
            <a:pPr marL="285750" lvl="0" indent="-285750">
              <a:buFont typeface="Arial" panose="020B0604020202020204" pitchFamily="34" charset="0"/>
              <a:buChar char="•"/>
            </a:pPr>
            <a:r>
              <a:rPr lang="en-IN" b="1" dirty="0"/>
              <a:t>Profit prediction</a:t>
            </a:r>
            <a:r>
              <a:rPr lang="en-IN" dirty="0"/>
              <a:t> to estimate expected revenue and profit before cultivation. </a:t>
            </a:r>
          </a:p>
          <a:p>
            <a:pPr marL="285750" lvl="0" indent="-285750">
              <a:buFont typeface="Arial" panose="020B0604020202020204" pitchFamily="34" charset="0"/>
              <a:buChar char="•"/>
            </a:pPr>
            <a:r>
              <a:rPr lang="en-IN" b="1" dirty="0"/>
              <a:t>Smart irrigation recommendations</a:t>
            </a:r>
            <a:r>
              <a:rPr lang="en-IN" dirty="0"/>
              <a:t> to reduce unnecessary water consumption. </a:t>
            </a:r>
          </a:p>
          <a:p>
            <a:pPr marL="285750" lvl="0" indent="-285750">
              <a:buFont typeface="Arial" panose="020B0604020202020204" pitchFamily="34" charset="0"/>
              <a:buChar char="•"/>
            </a:pPr>
            <a:r>
              <a:rPr lang="en-IN" b="1" dirty="0"/>
              <a:t>Disease and pest prediction</a:t>
            </a:r>
            <a:r>
              <a:rPr lang="en-IN" dirty="0"/>
              <a:t> using environmental and historical data. </a:t>
            </a:r>
          </a:p>
          <a:p>
            <a:pPr marL="285750" lvl="0" indent="-285750">
              <a:buFont typeface="Arial" panose="020B0604020202020204" pitchFamily="34" charset="0"/>
              <a:buChar char="•"/>
            </a:pPr>
            <a:r>
              <a:rPr lang="en-IN" b="1" dirty="0"/>
              <a:t>Real-time dashboards</a:t>
            </a:r>
            <a:r>
              <a:rPr lang="en-IN" dirty="0"/>
              <a:t> for farmers and agricultural authorities. </a:t>
            </a:r>
          </a:p>
          <a:p>
            <a:pPr marL="285750" lvl="0" indent="-285750">
              <a:buFont typeface="Arial" panose="020B0604020202020204" pitchFamily="34" charset="0"/>
              <a:buChar char="•"/>
            </a:pPr>
            <a:r>
              <a:rPr lang="en-IN" b="1" dirty="0"/>
              <a:t>Satellite/remote-sensing data integration</a:t>
            </a:r>
            <a:r>
              <a:rPr lang="en-IN" dirty="0"/>
              <a:t> for large-scale crop monitoring. </a:t>
            </a:r>
          </a:p>
          <a:p>
            <a:pPr marL="285750" lvl="0" indent="-285750">
              <a:buFont typeface="Arial" panose="020B0604020202020204" pitchFamily="34" charset="0"/>
              <a:buChar char="•"/>
            </a:pPr>
            <a:r>
              <a:rPr lang="en-IN" b="1" dirty="0"/>
              <a:t>Mobile application</a:t>
            </a:r>
            <a:r>
              <a:rPr lang="en-IN" dirty="0"/>
              <a:t> to make recommendations directly accessible to farmers. </a:t>
            </a:r>
          </a:p>
          <a:p>
            <a:pPr marL="285750" lvl="0" indent="-285750">
              <a:buFont typeface="Arial" panose="020B0604020202020204" pitchFamily="34" charset="0"/>
              <a:buChar char="•"/>
            </a:pPr>
            <a:r>
              <a:rPr lang="en-IN" dirty="0"/>
              <a:t>Integration with </a:t>
            </a:r>
            <a:r>
              <a:rPr lang="en-IN" b="1" dirty="0"/>
              <a:t>IoT sensors</a:t>
            </a:r>
            <a:r>
              <a:rPr lang="en-IN" dirty="0"/>
              <a:t> to collect real-time soil moisture, temperature and other farm conditions. </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369332"/>
          </a:xfrm>
          <a:prstGeom prst="rect">
            <a:avLst/>
          </a:prstGeom>
          <a:noFill/>
        </p:spPr>
        <p:txBody>
          <a:bodyPr wrap="square">
            <a:spAutoFit/>
          </a:bodyPr>
          <a:lstStyle/>
          <a:p>
            <a:r>
              <a:rPr lang="en-US" dirty="0"/>
              <a:t>https://github.com/krishh4426/seasonal_agriculture_performance</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26E876F-55DB-B018-DD35-72DDAD13C4A4}"/>
              </a:ext>
            </a:extLst>
          </p:cNvPr>
          <p:cNvPicPr>
            <a:picLocks noChangeAspect="1"/>
          </p:cNvPicPr>
          <p:nvPr/>
        </p:nvPicPr>
        <p:blipFill>
          <a:blip r:embed="rId3"/>
          <a:stretch>
            <a:fillRect/>
          </a:stretch>
        </p:blipFill>
        <p:spPr>
          <a:xfrm>
            <a:off x="675957" y="1674754"/>
            <a:ext cx="8141472" cy="454519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1377</TotalTime>
  <Words>541</Words>
  <Application>Microsoft Office PowerPoint</Application>
  <PresentationFormat>Widescreen</PresentationFormat>
  <Paragraphs>53</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Project Title –seasonal agriculture performance</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krish yadav</cp:lastModifiedBy>
  <cp:revision>99</cp:revision>
  <dcterms:created xsi:type="dcterms:W3CDTF">2021-07-11T13:13:15Z</dcterms:created>
  <dcterms:modified xsi:type="dcterms:W3CDTF">2026-09-10T10:50:08Z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